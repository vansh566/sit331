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3210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2743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2743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2743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0" y="2743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9601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9601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9601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9601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9601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0" y="9601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6459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16459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16459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16459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16459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16459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3317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23317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23317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0" y="23317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23317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0" y="23317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30175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0" y="30175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30175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0" y="30175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30175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86800" y="30175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37033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0" y="37033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0" y="37033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0" y="37033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0" y="37033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86800" y="37033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43891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0" y="43891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200" y="43891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72400" y="43891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29600" y="43891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86800" y="4389120"/>
            <a:ext cx="64008" cy="64008"/>
          </a:xfrm>
          <a:prstGeom prst="ellipse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960120"/>
            <a:ext cx="2286000" cy="22860"/>
          </a:xfrm>
          <a:prstGeom prst="rect">
            <a:avLst/>
          </a:prstGeom>
          <a:solidFill>
            <a:srgbClr val="00BFA6">
              <a:alpha val="30000"/>
            </a:srgbClr>
          </a:solidFill>
          <a:ln w="12700">
            <a:solidFill>
              <a:srgbClr val="00BFA6">
                <a:alpha val="3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0" y="2331720"/>
            <a:ext cx="2286000" cy="22860"/>
          </a:xfrm>
          <a:prstGeom prst="rect">
            <a:avLst/>
          </a:prstGeom>
          <a:solidFill>
            <a:srgbClr val="00BFA6">
              <a:alpha val="30000"/>
            </a:srgbClr>
          </a:solidFill>
          <a:ln w="12700">
            <a:solidFill>
              <a:srgbClr val="00BFA6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0" y="3703320"/>
            <a:ext cx="2286000" cy="22860"/>
          </a:xfrm>
          <a:prstGeom prst="rect">
            <a:avLst/>
          </a:prstGeom>
          <a:solidFill>
            <a:srgbClr val="00BFA6">
              <a:alpha val="30000"/>
            </a:srgbClr>
          </a:solidFill>
          <a:ln w="12700">
            <a:solidFill>
              <a:srgbClr val="00BFA6">
                <a:alpha val="3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8640" y="50292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502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4864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6000" dirty="0"/>
          </a:p>
        </p:txBody>
      </p:sp>
      <p:sp>
        <p:nvSpPr>
          <p:cNvPr id="51" name="Text 49"/>
          <p:cNvSpPr/>
          <p:nvPr/>
        </p:nvSpPr>
        <p:spPr>
          <a:xfrm>
            <a:off x="548640" y="1874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Minimal API</a:t>
            </a:r>
            <a:endParaRPr lang="en-US" sz="5200" dirty="0"/>
          </a:p>
        </p:txBody>
      </p:sp>
      <p:sp>
        <p:nvSpPr>
          <p:cNvPr id="52" name="Text 50"/>
          <p:cNvSpPr/>
          <p:nvPr/>
        </p:nvSpPr>
        <p:spPr>
          <a:xfrm>
            <a:off x="548640" y="2788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principles, architecture patterns, and modern .NET implementation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548640" y="4251960"/>
            <a:ext cx="1554480" cy="384048"/>
          </a:xfrm>
          <a:prstGeom prst="rect">
            <a:avLst/>
          </a:prstGeom>
          <a:solidFill>
            <a:srgbClr val="1B2A3B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4251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240280" y="4251960"/>
            <a:ext cx="1554480" cy="384048"/>
          </a:xfrm>
          <a:prstGeom prst="rect">
            <a:avLst/>
          </a:prstGeom>
          <a:solidFill>
            <a:srgbClr val="1B2A3B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40280" y="4251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931920" y="4251960"/>
            <a:ext cx="1554480" cy="384048"/>
          </a:xfrm>
          <a:prstGeom prst="rect">
            <a:avLst/>
          </a:prstGeom>
          <a:solidFill>
            <a:srgbClr val="1B2A3B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31920" y="4251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623560" y="4251960"/>
            <a:ext cx="1554480" cy="384048"/>
          </a:xfrm>
          <a:prstGeom prst="rect">
            <a:avLst/>
          </a:prstGeom>
          <a:solidFill>
            <a:srgbClr val="1B2A3B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23560" y="4251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315200" y="4251960"/>
            <a:ext cx="1554480" cy="384048"/>
          </a:xfrm>
          <a:prstGeom prst="rect">
            <a:avLst/>
          </a:prstGeom>
          <a:solidFill>
            <a:srgbClr val="1B2A3B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15200" y="4251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10058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journey through API design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256032" cy="10058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307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3232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Fundamentals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Principles, HTTP methods, status codes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23444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234440"/>
            <a:ext cx="256032" cy="100584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48072" y="1307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48072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Architecture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48072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Resources, endpoints, request/response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404872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04872"/>
            <a:ext cx="256032" cy="100584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4780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3232" y="2816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API in .NET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" y="30723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setup, routing, handlers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404872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404872"/>
            <a:ext cx="256032" cy="10058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8072" y="24780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148072" y="2816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vs Minimal API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48072" y="30723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 approach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96312" y="3575304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96312" y="3575304"/>
            <a:ext cx="256032" cy="10058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43784" y="36484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843784" y="3986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Best Practices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843784" y="4242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validation, versioning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10058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REST API?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Representational State Transfer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206240" cy="356616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618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 API (REpresentational State Transfer) is an architectural style for building web services. It uses standard HTTP methods to perform operations on resources identified by URLs.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communication
</a:t>
            </a: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interface
</a:t>
            </a: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 separation
</a:t>
            </a: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Cacheable responses
</a:t>
            </a: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system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1920240" cy="1051560"/>
          </a:xfrm>
          <a:prstGeom prst="rect">
            <a:avLst/>
          </a:prstGeom>
          <a:solidFill>
            <a:srgbClr val="162234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43000"/>
            <a:ext cx="1920240" cy="20116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990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Interface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URLs and HTTP verbs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0" y="1143000"/>
            <a:ext cx="1920240" cy="1051560"/>
          </a:xfrm>
          <a:prstGeom prst="rect">
            <a:avLst/>
          </a:prstGeom>
          <a:solidFill>
            <a:srgbClr val="162234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0" y="1143000"/>
            <a:ext cx="1920240" cy="201168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13990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49440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session stored server-side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350008"/>
            <a:ext cx="1920240" cy="1051560"/>
          </a:xfrm>
          <a:prstGeom prst="rect">
            <a:avLst/>
          </a:prstGeom>
          <a:solidFill>
            <a:srgbClr val="162234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350008"/>
            <a:ext cx="1920240" cy="2011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6060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Cacheable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can be cached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0" y="2350008"/>
            <a:ext cx="1920240" cy="1051560"/>
          </a:xfrm>
          <a:prstGeom prst="rect">
            <a:avLst/>
          </a:prstGeom>
          <a:solidFill>
            <a:srgbClr val="162234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0" y="2350008"/>
            <a:ext cx="1920240" cy="20116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26060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9440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concerns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557016"/>
            <a:ext cx="1920240" cy="1051560"/>
          </a:xfrm>
          <a:prstGeom prst="rect">
            <a:avLst/>
          </a:prstGeom>
          <a:solidFill>
            <a:srgbClr val="162234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557016"/>
            <a:ext cx="1920240" cy="20116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8130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System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41513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Middleware, proxies supported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0" y="3557016"/>
            <a:ext cx="1920240" cy="1051560"/>
          </a:xfrm>
          <a:prstGeom prst="rect">
            <a:avLst/>
          </a:prstGeom>
          <a:solidFill>
            <a:srgbClr val="162234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58000" y="3557016"/>
            <a:ext cx="1920240" cy="20116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38130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on Demand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0" y="41513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send executable code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10058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 in REST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 mapped to HTTP verbs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051560" cy="59436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08760" y="1216152"/>
            <a:ext cx="777240" cy="438912"/>
          </a:xfrm>
          <a:prstGeom prst="rect">
            <a:avLst/>
          </a:prstGeom>
          <a:solidFill>
            <a:srgbClr val="43A047">
              <a:alpha val="20000"/>
            </a:srgbClr>
          </a:solidFill>
          <a:ln w="12700">
            <a:solidFill>
              <a:srgbClr val="43A047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121615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23160" y="11887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 resource or list of resources. Safe and idempotent.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03720" y="1216152"/>
            <a:ext cx="1920240" cy="438912"/>
          </a:xfrm>
          <a:prstGeom prst="rect">
            <a:avLst/>
          </a:prstGeom>
          <a:solidFill>
            <a:srgbClr val="1A2638"/>
          </a:solidFill>
          <a:ln w="12700">
            <a:solidFill>
              <a:srgbClr val="2D40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121615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/api/users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911096"/>
            <a:ext cx="1051560" cy="59436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11096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508760" y="1984248"/>
            <a:ext cx="777240" cy="438912"/>
          </a:xfrm>
          <a:prstGeom prst="rect">
            <a:avLst/>
          </a:prstGeom>
          <a:solidFill>
            <a:srgbClr val="1976D2">
              <a:alpha val="20000"/>
            </a:srgbClr>
          </a:solidFill>
          <a:ln w="12700">
            <a:solidFill>
              <a:srgbClr val="1976D2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198424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23160" y="195681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resource. Not idempotent — each call creates a new entry.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1984248"/>
            <a:ext cx="1920240" cy="438912"/>
          </a:xfrm>
          <a:prstGeom prst="rect">
            <a:avLst/>
          </a:prstGeom>
          <a:solidFill>
            <a:srgbClr val="1A2638"/>
          </a:solidFill>
          <a:ln w="12700">
            <a:solidFill>
              <a:srgbClr val="2D40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9842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/api/users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679192"/>
            <a:ext cx="1051560" cy="5943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679192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508760" y="2752344"/>
            <a:ext cx="777240" cy="438912"/>
          </a:xfrm>
          <a:prstGeom prst="rect">
            <a:avLst/>
          </a:prstGeom>
          <a:solidFill>
            <a:srgbClr val="FFB300">
              <a:alpha val="20000"/>
            </a:srgbClr>
          </a:solidFill>
          <a:ln w="12700">
            <a:solidFill>
              <a:srgbClr val="FFB300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275234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23160" y="27249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an entire resource. Idempotent — same result every time.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03720" y="2752344"/>
            <a:ext cx="1920240" cy="438912"/>
          </a:xfrm>
          <a:prstGeom prst="rect">
            <a:avLst/>
          </a:prstGeom>
          <a:solidFill>
            <a:srgbClr val="1A2638"/>
          </a:solidFill>
          <a:ln w="12700">
            <a:solidFill>
              <a:srgbClr val="2D40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275234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/api/users/1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447288"/>
            <a:ext cx="1051560" cy="59436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447288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508760" y="3520440"/>
            <a:ext cx="777240" cy="438912"/>
          </a:xfrm>
          <a:prstGeom prst="rect">
            <a:avLst/>
          </a:prstGeom>
          <a:solidFill>
            <a:srgbClr val="7C4DFF">
              <a:alpha val="20000"/>
            </a:srgbClr>
          </a:solidFill>
          <a:ln w="12700">
            <a:solidFill>
              <a:srgbClr val="7C4DF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08760" y="352044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23160" y="34930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update a resource — only the fields you send.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03720" y="3520440"/>
            <a:ext cx="1920240" cy="438912"/>
          </a:xfrm>
          <a:prstGeom prst="rect">
            <a:avLst/>
          </a:prstGeom>
          <a:solidFill>
            <a:srgbClr val="1A2638"/>
          </a:solidFill>
          <a:ln w="12700">
            <a:solidFill>
              <a:srgbClr val="2D40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35204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/api/users/1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215384"/>
            <a:ext cx="1051560" cy="59436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215384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508760" y="4288536"/>
            <a:ext cx="777240" cy="438912"/>
          </a:xfrm>
          <a:prstGeom prst="rect">
            <a:avLst/>
          </a:prstGeom>
          <a:solidFill>
            <a:srgbClr val="E53935">
              <a:alpha val="20000"/>
            </a:srgbClr>
          </a:solidFill>
          <a:ln w="12700">
            <a:solidFill>
              <a:srgbClr val="E53935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08760" y="428853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423160" y="426110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resource from the server.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903720" y="4288536"/>
            <a:ext cx="1920240" cy="438912"/>
          </a:xfrm>
          <a:prstGeom prst="rect">
            <a:avLst/>
          </a:prstGeom>
          <a:solidFill>
            <a:srgbClr val="1A2638"/>
          </a:solidFill>
          <a:ln w="12700">
            <a:solidFill>
              <a:srgbClr val="2D405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03720" y="428853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/api/users/1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10058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 Codes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Communicating outcomes to API consumers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1965960" cy="2231136"/>
          </a:xfrm>
          <a:prstGeom prst="rect">
            <a:avLst/>
          </a:prstGeom>
          <a:solidFill>
            <a:srgbClr val="162234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1965960" cy="5029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97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2xx — Success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1305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 Created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56946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204 No Content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68880" y="1097280"/>
            <a:ext cx="1965960" cy="2231136"/>
          </a:xfrm>
          <a:prstGeom prst="rect">
            <a:avLst/>
          </a:prstGeom>
          <a:solidFill>
            <a:srgbClr val="162234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097280"/>
            <a:ext cx="1965960" cy="5029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097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3xx — Redirect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1691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301 Moved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1305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302 Found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256946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304 Not Modified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1097280"/>
            <a:ext cx="1965960" cy="3547872"/>
          </a:xfrm>
          <a:prstGeom prst="rect">
            <a:avLst/>
          </a:prstGeom>
          <a:solidFill>
            <a:srgbClr val="162234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097280"/>
            <a:ext cx="1965960" cy="5029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097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4xx — Client Error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09160" y="1691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Bad Request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21305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401 Unauthorized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256946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403 Forbidden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300837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 Not Found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34472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409 Conflict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3886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422 Unprocessable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66560" y="1097280"/>
            <a:ext cx="1965960" cy="2231136"/>
          </a:xfrm>
          <a:prstGeom prst="rect">
            <a:avLst/>
          </a:prstGeom>
          <a:solidFill>
            <a:srgbClr val="162234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66560" y="1097280"/>
            <a:ext cx="1965960" cy="50292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1097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5xx — Server Error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0" y="1691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Internal Error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0" y="21305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502 Bad Gateway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0" y="256946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503 Unavailable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4343400"/>
            <a:ext cx="8503920" cy="59436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4343400"/>
            <a:ext cx="256032" cy="59436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4074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Tip:  Always return the most specific status code. Avoid overusing 200 OK for all responses — consumers rely on status codes for error handling.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10058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&amp; Response Structure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REST API interaction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069080" cy="3749040"/>
          </a:xfrm>
          <a:prstGeom prst="rect">
            <a:avLst/>
          </a:prstGeom>
          <a:solidFill>
            <a:srgbClr val="1A2638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4069080" cy="384048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37947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/api/users HTTP/1.1
</a:t>
            </a: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</a:t>
            </a:r>
            <a:r>
              <a:rPr lang="en-US" sz="12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api.example.com
</a:t>
            </a: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</a:t>
            </a:r>
            <a:r>
              <a:rPr lang="en-US" sz="12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application/json
</a:t>
            </a: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</a:t>
            </a:r>
            <a:r>
              <a:rPr lang="en-US" sz="12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Bearer &lt;token&gt;
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</a:t>
            </a:r>
            <a:r>
              <a:rPr lang="en-US" sz="1200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"John Doe"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</a:t>
            </a:r>
            <a:r>
              <a:rPr lang="en-US" sz="1200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"john@email.com"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"role": </a:t>
            </a:r>
            <a:r>
              <a:rPr lang="en-US" sz="1200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"admin"
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069080" cy="3749040"/>
          </a:xfrm>
          <a:prstGeom prst="rect">
            <a:avLst/>
          </a:prstGeom>
          <a:solidFill>
            <a:srgbClr val="1A2638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43000"/>
            <a:ext cx="4069080" cy="38404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143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RESPONSE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627632"/>
            <a:ext cx="37947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</a:t>
            </a:r>
            <a:r>
              <a:rPr lang="en-US" sz="12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 Created
</a:t>
            </a: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</a:t>
            </a:r>
            <a:r>
              <a:rPr lang="en-US" sz="12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application/json
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</a:t>
            </a:r>
            <a:r>
              <a:rPr lang="en-US" sz="1200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</a:t>
            </a:r>
            <a:r>
              <a:rPr lang="en-US" sz="1200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"John Doe"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</a:t>
            </a:r>
            <a:r>
              <a:rPr lang="en-US" sz="1200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"john@email.com"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"createdAt": </a:t>
            </a:r>
            <a:r>
              <a:rPr lang="en-US" sz="12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"2024-01-15"
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10058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Design Principles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intuitive, consistent APIs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160520" cy="1188720"/>
          </a:xfrm>
          <a:prstGeom prst="rect">
            <a:avLst/>
          </a:prstGeom>
          <a:solidFill>
            <a:srgbClr val="162234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618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Use Nouns, Not Verbs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457200" cy="23774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276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78408" y="16276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457200" cy="23774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202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78408" y="19202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/api/getUsers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170432"/>
            <a:ext cx="4160520" cy="1188720"/>
          </a:xfrm>
          <a:prstGeom prst="rect">
            <a:avLst/>
          </a:prstGeom>
          <a:solidFill>
            <a:srgbClr val="162234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2618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Plural Resource Names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92040" y="1627632"/>
            <a:ext cx="457200" cy="23774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6276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13248" y="16276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1920240"/>
            <a:ext cx="457200" cy="23774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9202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✖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13248" y="19202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468880"/>
            <a:ext cx="4160520" cy="1188720"/>
          </a:xfrm>
          <a:prstGeom prst="rect">
            <a:avLst/>
          </a:prstGeom>
          <a:solidFill>
            <a:srgbClr val="162234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2560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Nested Resources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457200" cy="23774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92608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78408" y="29260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/api/users/5/orders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218688"/>
            <a:ext cx="457200" cy="23774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2186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✖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78408" y="32186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/api/getUserOrders?id=5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468880"/>
            <a:ext cx="4160520" cy="1188720"/>
          </a:xfrm>
          <a:prstGeom prst="rect">
            <a:avLst/>
          </a:prstGeom>
          <a:solidFill>
            <a:srgbClr val="162234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92040" y="2560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Version Your API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92040" y="2926080"/>
            <a:ext cx="457200" cy="23774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92608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✔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13248" y="29260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/api/v1/users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3218688"/>
            <a:ext cx="457200" cy="23774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2186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✖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13248" y="32186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/api/users-new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3767328"/>
            <a:ext cx="4160520" cy="1188720"/>
          </a:xfrm>
          <a:prstGeom prst="rect">
            <a:avLst/>
          </a:prstGeom>
          <a:solidFill>
            <a:srgbClr val="162234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7200" y="38587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Filter with Query Params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57200" y="4224528"/>
            <a:ext cx="457200" cy="23774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224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✔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78408" y="422452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/api/users?role=admin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4517136"/>
            <a:ext cx="457200" cy="23774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5171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✖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78408" y="45171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/api/adminUsers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54880" y="3767328"/>
            <a:ext cx="4160520" cy="1188720"/>
          </a:xfrm>
          <a:prstGeom prst="rect">
            <a:avLst/>
          </a:prstGeom>
          <a:solidFill>
            <a:srgbClr val="162234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892040" y="38587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Consistent Responses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892040" y="4224528"/>
            <a:ext cx="457200" cy="23774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4224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✔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13248" y="422452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"data": [...], "total": 50 }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892040" y="4517136"/>
            <a:ext cx="457200" cy="23774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45171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✖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413248" y="45171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Mixed structures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10058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Minimal API?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API approach in .NET 6+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11480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618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API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in .NET 6, Minimal APIs provide a streamlined approach to building HTTP APIs with minimal code and dependencies — no controllers, no startup class boilerplate.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788920"/>
            <a:ext cx="201168" cy="201168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761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Controllers needed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201168" cy="201168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0998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boilerplate code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465576"/>
            <a:ext cx="201168" cy="201168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4381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startup time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803904"/>
            <a:ext cx="201168" cy="201168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776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DI support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142232"/>
            <a:ext cx="201168" cy="201168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OpenAPI/Swagger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4480560"/>
            <a:ext cx="201168" cy="201168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44531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Lambda-style handlers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1143000"/>
            <a:ext cx="4114800" cy="3749040"/>
          </a:xfrm>
          <a:prstGeom prst="rect">
            <a:avLst/>
          </a:prstGeom>
          <a:solidFill>
            <a:srgbClr val="1A2638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143000"/>
            <a:ext cx="4114800" cy="36576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 — Minimal API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73168" y="1581912"/>
            <a:ext cx="38862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</a:t>
            </a:r>
            <a:r>
              <a:rPr lang="en-US" sz="11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WebApplication
          .CreateBuilder(args);
</a:t>
            </a:r>
            <a:r>
              <a:rPr lang="en-US" sz="1150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r>
              <a:rPr lang="en-US" sz="11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builder.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Build();
</a:t>
            </a:r>
            <a:r>
              <a:rPr lang="en-US" sz="11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r>
              <a:rPr lang="en-US" sz="115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MapGet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r>
              <a:rPr lang="en-US" sz="1150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"/api/users"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async (</a:t>
            </a:r>
            <a:r>
              <a:rPr lang="en-US" sz="11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IUserService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</a:t>
            </a:r>
            <a:r>
              <a:rPr lang="en-US" sz="11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=&gt;
    await svc.</a:t>
            </a:r>
            <a:r>
              <a:rPr lang="en-US" sz="115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GetAllAsync()
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en-US" sz="11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r>
              <a:rPr lang="en-US" sz="115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MapPost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r>
              <a:rPr lang="en-US" sz="1150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"/api/users"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</a:t>
            </a:r>
            <a:r>
              <a:rPr lang="en-US" sz="11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UserDto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dto</a:t>
            </a:r>
            <a:r>
              <a:rPr lang="en-US" sz="11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=&gt;
    Results.</a:t>
            </a:r>
            <a:r>
              <a:rPr lang="en-US" sz="115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Created(...)
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r>
              <a:rPr lang="en-US" sz="11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r>
              <a:rPr lang="en-US" sz="1150" b="1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Run();
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10058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API — Routing &amp; Handlers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HTTP methods directly to functions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1463040" cy="6583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MapGet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65960" y="1170432"/>
            <a:ext cx="6812280" cy="658368"/>
          </a:xfrm>
          <a:prstGeom prst="rect">
            <a:avLst/>
          </a:prstGeom>
          <a:solidFill>
            <a:srgbClr val="1A2638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0" y="1261872"/>
            <a:ext cx="6537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app.MapGet("/items/{id}", (int id) =&gt; Results.Ok(itemService.Get(id)));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12264"/>
            <a:ext cx="1463040" cy="658368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12264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MapPost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65960" y="2112264"/>
            <a:ext cx="6812280" cy="658368"/>
          </a:xfrm>
          <a:prstGeom prst="rect">
            <a:avLst/>
          </a:prstGeom>
          <a:solidFill>
            <a:srgbClr val="1A2638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03120" y="2203704"/>
            <a:ext cx="6537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app.MapPost("/items", (CreateItemDto dto) =&gt; Results.Created($"/items/{item.Id}", item));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54096"/>
            <a:ext cx="1463040" cy="65836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5409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MapPut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965960" y="3054096"/>
            <a:ext cx="6812280" cy="658368"/>
          </a:xfrm>
          <a:prstGeom prst="rect">
            <a:avLst/>
          </a:prstGeom>
          <a:solidFill>
            <a:srgbClr val="1A2638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03120" y="3145536"/>
            <a:ext cx="6537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app.MapPut("/items/{id}", (int id, UpdateItemDto dto) =&gt; Results.NoContent());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995928"/>
            <a:ext cx="1463040" cy="65836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99592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MapDelete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965960" y="3995928"/>
            <a:ext cx="6812280" cy="658368"/>
          </a:xfrm>
          <a:prstGeom prst="rect">
            <a:avLst/>
          </a:prstGeom>
          <a:solidFill>
            <a:srgbClr val="1A2638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03120" y="4087368"/>
            <a:ext cx="6537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app.MapDelete("/items/{id}", (int id) =&gt; Results.NoContent());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846320"/>
            <a:ext cx="841248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846320"/>
            <a:ext cx="256032" cy="82296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919472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Groups: </a:t>
            </a:r>
            <a:r>
              <a:rPr lang="en-US" sz="12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items = app.MapGroup("/api/items").RequireAuthorization();  </a:t>
            </a:r>
            <a:r>
              <a:rPr lang="en-US" sz="12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items.MapGet("/", GetAll);  items.MapPost("/", Create);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10058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 API vs Minimal API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approach for your project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92608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143000"/>
            <a:ext cx="2606040" cy="43891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14300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API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1143000"/>
            <a:ext cx="2697480" cy="43891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14300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27632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68249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68249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setup required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68249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minimal code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103120"/>
            <a:ext cx="8412480" cy="438912"/>
          </a:xfrm>
          <a:prstGeom prst="rect">
            <a:avLst/>
          </a:prstGeom>
          <a:solidFill>
            <a:srgbClr val="EBF0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15798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29000" y="215798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Controller-based classes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21579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route handlers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578608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6334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29000" y="26334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large projects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26334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small/micro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054096"/>
            <a:ext cx="8412480" cy="438912"/>
          </a:xfrm>
          <a:prstGeom prst="rect">
            <a:avLst/>
          </a:prstGeom>
          <a:solidFill>
            <a:srgbClr val="EBF0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1089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Filters/Attrs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29000" y="310896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attribute support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310896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Limited, use middleware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529584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5844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29000" y="358444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unit testing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26480" y="35844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Integration-test friendly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4005072"/>
            <a:ext cx="8412480" cy="438912"/>
          </a:xfrm>
          <a:prstGeom prst="rect">
            <a:avLst/>
          </a:prstGeom>
          <a:solidFill>
            <a:srgbClr val="EBF0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05993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29000" y="405993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more overhead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26480" y="40599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startup &amp; throughput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448056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53542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429000" y="453542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Swashbuckle/NSwag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26480" y="453542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.NET 9+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10058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Authentication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your API endpoints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2743200" cy="1691640"/>
          </a:xfrm>
          <a:prstGeom prst="rect">
            <a:avLst/>
          </a:prstGeom>
          <a:solidFill>
            <a:srgbClr val="162234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2743200" cy="2560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4904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JWT Bearer Tokens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" y="190195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signed tokens containing user claims. Client sends in Authorization header. Stateless and scalable.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170432"/>
            <a:ext cx="2743200" cy="1691640"/>
          </a:xfrm>
          <a:prstGeom prst="rect">
            <a:avLst/>
          </a:prstGeom>
          <a:solidFill>
            <a:srgbClr val="162234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70432"/>
            <a:ext cx="2743200" cy="2560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4904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🗝️  API Key Auth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55848" y="190195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key passed in header or query string. Good for server-to-server communication.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170432"/>
            <a:ext cx="2743200" cy="1691640"/>
          </a:xfrm>
          <a:prstGeom prst="rect">
            <a:avLst/>
          </a:prstGeom>
          <a:solidFill>
            <a:srgbClr val="162234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170432"/>
            <a:ext cx="2743200" cy="25603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14904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OAuth 2.0 / OIDC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81928" y="190195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authorization. Use for third-party integrations and SSO scenarios.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044952"/>
            <a:ext cx="2743200" cy="1691640"/>
          </a:xfrm>
          <a:prstGeom prst="rect">
            <a:avLst/>
          </a:prstGeom>
          <a:solidFill>
            <a:srgbClr val="162234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044952"/>
            <a:ext cx="2743200" cy="2560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36499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HTTPS / TLS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9768" y="377647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enforce HTTPS. Use HSTS headers. Never send credentials over plain HTTP.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3044952"/>
            <a:ext cx="2743200" cy="1691640"/>
          </a:xfrm>
          <a:prstGeom prst="rect">
            <a:avLst/>
          </a:prstGeom>
          <a:solidFill>
            <a:srgbClr val="162234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3044952"/>
            <a:ext cx="2743200" cy="25603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336499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Rate Limiting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55848" y="377647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 requests per user/IP. .NET has built-in RateLimiter middleware from .NET 7+.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72200" y="3044952"/>
            <a:ext cx="2743200" cy="1691640"/>
          </a:xfrm>
          <a:prstGeom prst="rect">
            <a:avLst/>
          </a:prstGeom>
          <a:solidFill>
            <a:srgbClr val="162234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3044952"/>
            <a:ext cx="2743200" cy="25603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336499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Input Validation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81928" y="377647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validate and sanitize inputs. Use FluentValidation or data annotations.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10058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Best Practices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APIs developers love to consume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70432"/>
            <a:ext cx="502920" cy="107899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7043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87552" y="130759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version your API — /api/v1/ prevents breaking changes for consumers.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00600" y="1170432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170432"/>
            <a:ext cx="502920" cy="107899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17043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22392" y="130759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consistent error responses with a standard error schema including code, message, and details.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2432304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32304"/>
            <a:ext cx="502920" cy="107899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32304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7552" y="2569464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with OpenAPI/Swagger — makes your API self-describing and testable.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00600" y="2432304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432304"/>
            <a:ext cx="502920" cy="107899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432304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22392" y="2569464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pagination for list endpoints — use limit/offset or cursor-based pagination.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5760" y="3694176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694176"/>
            <a:ext cx="502920" cy="107899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94176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87552" y="3831336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proper caching — ETag headers and Cache-Control reduce server load significantly.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800600" y="3694176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694176"/>
            <a:ext cx="502920" cy="107899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694176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22392" y="3831336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all requests and responses. Use correlation IDs for distributed tracing.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4023360" cy="150876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2070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REST API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7512" y="162763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REST for large, structured backends with controllers, complex filters, and team scalability.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4023360" cy="150876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10912" y="12070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Minimal API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10912" y="162763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Minimal API for microservices, prototypes, and scenarios where speed and simplicity matter.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4023360" cy="150876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" y="29443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 First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implement authentication, input validation, HTTPS, and rate limiting from day one.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2834640"/>
            <a:ext cx="4023360" cy="150876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44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10912" y="29443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Design Matters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10912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naming, versioning, and error schemas make your API a joy to consume.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APIs that are secure, scalable, and developer-friendly.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1289</Words>
  <Application>Microsoft Office PowerPoint</Application>
  <PresentationFormat>On-screen Show (16:9)</PresentationFormat>
  <Paragraphs>225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 API &amp; Minimal API</dc:title>
  <dc:subject>PptxGenJS Presentation</dc:subject>
  <dc:creator>PptxGenJS</dc:creator>
  <cp:lastModifiedBy>Vansh Pharia</cp:lastModifiedBy>
  <cp:revision>1</cp:revision>
  <dcterms:created xsi:type="dcterms:W3CDTF">2026-04-17T10:16:31Z</dcterms:created>
  <dcterms:modified xsi:type="dcterms:W3CDTF">2026-04-17T10:36:57Z</dcterms:modified>
</cp:coreProperties>
</file>